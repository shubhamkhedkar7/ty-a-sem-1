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6EB33-DBF5-7772-F222-3107F4CC7F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9F52A3-5900-DDA3-DCEE-42A6234461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419623-65EA-C3D9-81B1-DAB27E7C57DB}"/>
              </a:ext>
            </a:extLst>
          </p:cNvPr>
          <p:cNvSpPr>
            <a:spLocks noGrp="1"/>
          </p:cNvSpPr>
          <p:nvPr>
            <p:ph type="dt" sz="half" idx="10"/>
          </p:nvPr>
        </p:nvSpPr>
        <p:spPr/>
        <p:txBody>
          <a:bodyPr/>
          <a:lstStyle/>
          <a:p>
            <a:fld id="{D09337CA-3DE9-438A-BC39-82A11E9D9EC1}" type="datetimeFigureOut">
              <a:rPr lang="en-IN" smtClean="0"/>
              <a:t>16-08-2026</a:t>
            </a:fld>
            <a:endParaRPr lang="en-IN"/>
          </a:p>
        </p:txBody>
      </p:sp>
      <p:sp>
        <p:nvSpPr>
          <p:cNvPr id="5" name="Footer Placeholder 4">
            <a:extLst>
              <a:ext uri="{FF2B5EF4-FFF2-40B4-BE49-F238E27FC236}">
                <a16:creationId xmlns:a16="http://schemas.microsoft.com/office/drawing/2014/main" id="{FEB1A794-8CAE-995F-BA17-D44A13B984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484BB4-152C-A1F7-5FE0-017ECFE1DC90}"/>
              </a:ext>
            </a:extLst>
          </p:cNvPr>
          <p:cNvSpPr>
            <a:spLocks noGrp="1"/>
          </p:cNvSpPr>
          <p:nvPr>
            <p:ph type="sldNum" sz="quarter" idx="12"/>
          </p:nvPr>
        </p:nvSpPr>
        <p:spPr/>
        <p:txBody>
          <a:bodyPr/>
          <a:lstStyle/>
          <a:p>
            <a:fld id="{CE737EC7-409A-4F56-B959-934E8F2A8F20}" type="slidenum">
              <a:rPr lang="en-IN" smtClean="0"/>
              <a:t>‹#›</a:t>
            </a:fld>
            <a:endParaRPr lang="en-IN"/>
          </a:p>
        </p:txBody>
      </p:sp>
    </p:spTree>
    <p:extLst>
      <p:ext uri="{BB962C8B-B14F-4D97-AF65-F5344CB8AC3E}">
        <p14:creationId xmlns:p14="http://schemas.microsoft.com/office/powerpoint/2010/main" val="825316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A2A24-1B0D-E24C-BDF6-0A31D93CD2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601E3C-9E77-42F8-2B7F-19A7161A83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05B349-D373-E5CA-727B-0278292FD823}"/>
              </a:ext>
            </a:extLst>
          </p:cNvPr>
          <p:cNvSpPr>
            <a:spLocks noGrp="1"/>
          </p:cNvSpPr>
          <p:nvPr>
            <p:ph type="dt" sz="half" idx="10"/>
          </p:nvPr>
        </p:nvSpPr>
        <p:spPr/>
        <p:txBody>
          <a:bodyPr/>
          <a:lstStyle/>
          <a:p>
            <a:fld id="{D09337CA-3DE9-438A-BC39-82A11E9D9EC1}" type="datetimeFigureOut">
              <a:rPr lang="en-IN" smtClean="0"/>
              <a:t>16-08-2026</a:t>
            </a:fld>
            <a:endParaRPr lang="en-IN"/>
          </a:p>
        </p:txBody>
      </p:sp>
      <p:sp>
        <p:nvSpPr>
          <p:cNvPr id="5" name="Footer Placeholder 4">
            <a:extLst>
              <a:ext uri="{FF2B5EF4-FFF2-40B4-BE49-F238E27FC236}">
                <a16:creationId xmlns:a16="http://schemas.microsoft.com/office/drawing/2014/main" id="{B184DDFB-5344-D221-DE61-F40C7554CF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EB3F4A-C1F3-2F19-A26E-2280EAB940DD}"/>
              </a:ext>
            </a:extLst>
          </p:cNvPr>
          <p:cNvSpPr>
            <a:spLocks noGrp="1"/>
          </p:cNvSpPr>
          <p:nvPr>
            <p:ph type="sldNum" sz="quarter" idx="12"/>
          </p:nvPr>
        </p:nvSpPr>
        <p:spPr/>
        <p:txBody>
          <a:bodyPr/>
          <a:lstStyle/>
          <a:p>
            <a:fld id="{CE737EC7-409A-4F56-B959-934E8F2A8F20}" type="slidenum">
              <a:rPr lang="en-IN" smtClean="0"/>
              <a:t>‹#›</a:t>
            </a:fld>
            <a:endParaRPr lang="en-IN"/>
          </a:p>
        </p:txBody>
      </p:sp>
    </p:spTree>
    <p:extLst>
      <p:ext uri="{BB962C8B-B14F-4D97-AF65-F5344CB8AC3E}">
        <p14:creationId xmlns:p14="http://schemas.microsoft.com/office/powerpoint/2010/main" val="4138100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4CDB0-5CF7-D848-AA0E-6FCBEBA55A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6C1F48D-5514-7CE1-0222-CFD82ECC52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5C9585-43D8-6072-0C01-77E5C413B3E5}"/>
              </a:ext>
            </a:extLst>
          </p:cNvPr>
          <p:cNvSpPr>
            <a:spLocks noGrp="1"/>
          </p:cNvSpPr>
          <p:nvPr>
            <p:ph type="dt" sz="half" idx="10"/>
          </p:nvPr>
        </p:nvSpPr>
        <p:spPr/>
        <p:txBody>
          <a:bodyPr/>
          <a:lstStyle/>
          <a:p>
            <a:fld id="{D09337CA-3DE9-438A-BC39-82A11E9D9EC1}" type="datetimeFigureOut">
              <a:rPr lang="en-IN" smtClean="0"/>
              <a:t>16-08-2026</a:t>
            </a:fld>
            <a:endParaRPr lang="en-IN"/>
          </a:p>
        </p:txBody>
      </p:sp>
      <p:sp>
        <p:nvSpPr>
          <p:cNvPr id="5" name="Footer Placeholder 4">
            <a:extLst>
              <a:ext uri="{FF2B5EF4-FFF2-40B4-BE49-F238E27FC236}">
                <a16:creationId xmlns:a16="http://schemas.microsoft.com/office/drawing/2014/main" id="{9A88B9CC-DE39-90BB-CA90-01E4ED2877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435784-26F4-2FE1-6207-E547C2EBFAD9}"/>
              </a:ext>
            </a:extLst>
          </p:cNvPr>
          <p:cNvSpPr>
            <a:spLocks noGrp="1"/>
          </p:cNvSpPr>
          <p:nvPr>
            <p:ph type="sldNum" sz="quarter" idx="12"/>
          </p:nvPr>
        </p:nvSpPr>
        <p:spPr/>
        <p:txBody>
          <a:bodyPr/>
          <a:lstStyle/>
          <a:p>
            <a:fld id="{CE737EC7-409A-4F56-B959-934E8F2A8F20}" type="slidenum">
              <a:rPr lang="en-IN" smtClean="0"/>
              <a:t>‹#›</a:t>
            </a:fld>
            <a:endParaRPr lang="en-IN"/>
          </a:p>
        </p:txBody>
      </p:sp>
    </p:spTree>
    <p:extLst>
      <p:ext uri="{BB962C8B-B14F-4D97-AF65-F5344CB8AC3E}">
        <p14:creationId xmlns:p14="http://schemas.microsoft.com/office/powerpoint/2010/main" val="663245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2D4EF-09EB-294E-1FEC-04AAC428B4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A2237C7-3D76-8D6E-7C46-30E3B818BD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2B1DB4-EC33-6B3C-02AC-6FFE6C3C1C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78400AC-53C6-B559-E058-E2FBBB95A291}"/>
              </a:ext>
            </a:extLst>
          </p:cNvPr>
          <p:cNvSpPr>
            <a:spLocks noGrp="1"/>
          </p:cNvSpPr>
          <p:nvPr>
            <p:ph type="dt" sz="half" idx="10"/>
          </p:nvPr>
        </p:nvSpPr>
        <p:spPr/>
        <p:txBody>
          <a:bodyPr/>
          <a:lstStyle/>
          <a:p>
            <a:fld id="{D09337CA-3DE9-438A-BC39-82A11E9D9EC1}" type="datetimeFigureOut">
              <a:rPr lang="en-IN" smtClean="0"/>
              <a:t>16-08-2026</a:t>
            </a:fld>
            <a:endParaRPr lang="en-IN"/>
          </a:p>
        </p:txBody>
      </p:sp>
      <p:sp>
        <p:nvSpPr>
          <p:cNvPr id="6" name="Footer Placeholder 5">
            <a:extLst>
              <a:ext uri="{FF2B5EF4-FFF2-40B4-BE49-F238E27FC236}">
                <a16:creationId xmlns:a16="http://schemas.microsoft.com/office/drawing/2014/main" id="{F28B35F9-2016-611F-44DB-5C40F32240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DB4BB6-BBF6-4483-CE59-CFFBCB8A5C6C}"/>
              </a:ext>
            </a:extLst>
          </p:cNvPr>
          <p:cNvSpPr>
            <a:spLocks noGrp="1"/>
          </p:cNvSpPr>
          <p:nvPr>
            <p:ph type="sldNum" sz="quarter" idx="12"/>
          </p:nvPr>
        </p:nvSpPr>
        <p:spPr/>
        <p:txBody>
          <a:bodyPr/>
          <a:lstStyle/>
          <a:p>
            <a:fld id="{CE737EC7-409A-4F56-B959-934E8F2A8F20}" type="slidenum">
              <a:rPr lang="en-IN" smtClean="0"/>
              <a:t>‹#›</a:t>
            </a:fld>
            <a:endParaRPr lang="en-IN"/>
          </a:p>
        </p:txBody>
      </p:sp>
    </p:spTree>
    <p:extLst>
      <p:ext uri="{BB962C8B-B14F-4D97-AF65-F5344CB8AC3E}">
        <p14:creationId xmlns:p14="http://schemas.microsoft.com/office/powerpoint/2010/main" val="945695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BA85-BBA4-FBD6-2A9D-48E7E033DA8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136707-CE8B-0F0E-71DF-053D0884B8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795F26-030F-5B15-F380-810849FE1F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70BAEE8-835D-E8FF-63DA-A43EB7C57E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85B542-27EA-7B89-1C82-4B7AD9D7B3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1DF96D-4486-01D2-D5F7-F5135DECDE2E}"/>
              </a:ext>
            </a:extLst>
          </p:cNvPr>
          <p:cNvSpPr>
            <a:spLocks noGrp="1"/>
          </p:cNvSpPr>
          <p:nvPr>
            <p:ph type="dt" sz="half" idx="10"/>
          </p:nvPr>
        </p:nvSpPr>
        <p:spPr/>
        <p:txBody>
          <a:bodyPr/>
          <a:lstStyle/>
          <a:p>
            <a:fld id="{D09337CA-3DE9-438A-BC39-82A11E9D9EC1}" type="datetimeFigureOut">
              <a:rPr lang="en-IN" smtClean="0"/>
              <a:t>16-08-2026</a:t>
            </a:fld>
            <a:endParaRPr lang="en-IN"/>
          </a:p>
        </p:txBody>
      </p:sp>
      <p:sp>
        <p:nvSpPr>
          <p:cNvPr id="8" name="Footer Placeholder 7">
            <a:extLst>
              <a:ext uri="{FF2B5EF4-FFF2-40B4-BE49-F238E27FC236}">
                <a16:creationId xmlns:a16="http://schemas.microsoft.com/office/drawing/2014/main" id="{5DF6AA38-29B7-E11B-7F3E-D081AB69DBD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52B2A29-54E4-4B79-84D7-6A2B40ADBDFE}"/>
              </a:ext>
            </a:extLst>
          </p:cNvPr>
          <p:cNvSpPr>
            <a:spLocks noGrp="1"/>
          </p:cNvSpPr>
          <p:nvPr>
            <p:ph type="sldNum" sz="quarter" idx="12"/>
          </p:nvPr>
        </p:nvSpPr>
        <p:spPr/>
        <p:txBody>
          <a:bodyPr/>
          <a:lstStyle/>
          <a:p>
            <a:fld id="{CE737EC7-409A-4F56-B959-934E8F2A8F20}" type="slidenum">
              <a:rPr lang="en-IN" smtClean="0"/>
              <a:t>‹#›</a:t>
            </a:fld>
            <a:endParaRPr lang="en-IN"/>
          </a:p>
        </p:txBody>
      </p:sp>
    </p:spTree>
    <p:extLst>
      <p:ext uri="{BB962C8B-B14F-4D97-AF65-F5344CB8AC3E}">
        <p14:creationId xmlns:p14="http://schemas.microsoft.com/office/powerpoint/2010/main" val="1254257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29E84-D28B-D547-2ED9-BAFDD16D55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B0C11BB-2DF7-34B5-1DD5-0B2965C55147}"/>
              </a:ext>
            </a:extLst>
          </p:cNvPr>
          <p:cNvSpPr>
            <a:spLocks noGrp="1"/>
          </p:cNvSpPr>
          <p:nvPr>
            <p:ph type="dt" sz="half" idx="10"/>
          </p:nvPr>
        </p:nvSpPr>
        <p:spPr/>
        <p:txBody>
          <a:bodyPr/>
          <a:lstStyle/>
          <a:p>
            <a:fld id="{D09337CA-3DE9-438A-BC39-82A11E9D9EC1}" type="datetimeFigureOut">
              <a:rPr lang="en-IN" smtClean="0"/>
              <a:t>16-08-2026</a:t>
            </a:fld>
            <a:endParaRPr lang="en-IN"/>
          </a:p>
        </p:txBody>
      </p:sp>
      <p:sp>
        <p:nvSpPr>
          <p:cNvPr id="4" name="Footer Placeholder 3">
            <a:extLst>
              <a:ext uri="{FF2B5EF4-FFF2-40B4-BE49-F238E27FC236}">
                <a16:creationId xmlns:a16="http://schemas.microsoft.com/office/drawing/2014/main" id="{C2823C7D-4B4C-97EE-76E0-9FAB8642081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795EF3F-8192-7FDC-78EE-47385BBCFD08}"/>
              </a:ext>
            </a:extLst>
          </p:cNvPr>
          <p:cNvSpPr>
            <a:spLocks noGrp="1"/>
          </p:cNvSpPr>
          <p:nvPr>
            <p:ph type="sldNum" sz="quarter" idx="12"/>
          </p:nvPr>
        </p:nvSpPr>
        <p:spPr/>
        <p:txBody>
          <a:bodyPr/>
          <a:lstStyle/>
          <a:p>
            <a:fld id="{CE737EC7-409A-4F56-B959-934E8F2A8F20}" type="slidenum">
              <a:rPr lang="en-IN" smtClean="0"/>
              <a:t>‹#›</a:t>
            </a:fld>
            <a:endParaRPr lang="en-IN"/>
          </a:p>
        </p:txBody>
      </p:sp>
    </p:spTree>
    <p:extLst>
      <p:ext uri="{BB962C8B-B14F-4D97-AF65-F5344CB8AC3E}">
        <p14:creationId xmlns:p14="http://schemas.microsoft.com/office/powerpoint/2010/main" val="2104923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1A19E7-121B-D461-7FFA-C264949C5DFE}"/>
              </a:ext>
            </a:extLst>
          </p:cNvPr>
          <p:cNvSpPr>
            <a:spLocks noGrp="1"/>
          </p:cNvSpPr>
          <p:nvPr>
            <p:ph type="dt" sz="half" idx="10"/>
          </p:nvPr>
        </p:nvSpPr>
        <p:spPr/>
        <p:txBody>
          <a:bodyPr/>
          <a:lstStyle/>
          <a:p>
            <a:fld id="{D09337CA-3DE9-438A-BC39-82A11E9D9EC1}" type="datetimeFigureOut">
              <a:rPr lang="en-IN" smtClean="0"/>
              <a:t>16-08-2026</a:t>
            </a:fld>
            <a:endParaRPr lang="en-IN"/>
          </a:p>
        </p:txBody>
      </p:sp>
      <p:sp>
        <p:nvSpPr>
          <p:cNvPr id="3" name="Footer Placeholder 2">
            <a:extLst>
              <a:ext uri="{FF2B5EF4-FFF2-40B4-BE49-F238E27FC236}">
                <a16:creationId xmlns:a16="http://schemas.microsoft.com/office/drawing/2014/main" id="{E7ED12EA-8C3C-4716-DD53-2847758E1A1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DDACB4F-6CEE-67F4-60C8-64C55B7FE7D1}"/>
              </a:ext>
            </a:extLst>
          </p:cNvPr>
          <p:cNvSpPr>
            <a:spLocks noGrp="1"/>
          </p:cNvSpPr>
          <p:nvPr>
            <p:ph type="sldNum" sz="quarter" idx="12"/>
          </p:nvPr>
        </p:nvSpPr>
        <p:spPr/>
        <p:txBody>
          <a:bodyPr/>
          <a:lstStyle/>
          <a:p>
            <a:fld id="{CE737EC7-409A-4F56-B959-934E8F2A8F20}" type="slidenum">
              <a:rPr lang="en-IN" smtClean="0"/>
              <a:t>‹#›</a:t>
            </a:fld>
            <a:endParaRPr lang="en-IN"/>
          </a:p>
        </p:txBody>
      </p:sp>
    </p:spTree>
    <p:extLst>
      <p:ext uri="{BB962C8B-B14F-4D97-AF65-F5344CB8AC3E}">
        <p14:creationId xmlns:p14="http://schemas.microsoft.com/office/powerpoint/2010/main" val="2131553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2986F-640A-ACDB-E93A-57CE56157D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37939D-50BA-1123-CBFA-AAC2964707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975E18-B2C1-080E-5970-20FD151D15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01C5B2-6267-EE0D-6BBC-166009D8BD8D}"/>
              </a:ext>
            </a:extLst>
          </p:cNvPr>
          <p:cNvSpPr>
            <a:spLocks noGrp="1"/>
          </p:cNvSpPr>
          <p:nvPr>
            <p:ph type="dt" sz="half" idx="10"/>
          </p:nvPr>
        </p:nvSpPr>
        <p:spPr/>
        <p:txBody>
          <a:bodyPr/>
          <a:lstStyle/>
          <a:p>
            <a:fld id="{D09337CA-3DE9-438A-BC39-82A11E9D9EC1}" type="datetimeFigureOut">
              <a:rPr lang="en-IN" smtClean="0"/>
              <a:t>16-08-2026</a:t>
            </a:fld>
            <a:endParaRPr lang="en-IN"/>
          </a:p>
        </p:txBody>
      </p:sp>
      <p:sp>
        <p:nvSpPr>
          <p:cNvPr id="6" name="Footer Placeholder 5">
            <a:extLst>
              <a:ext uri="{FF2B5EF4-FFF2-40B4-BE49-F238E27FC236}">
                <a16:creationId xmlns:a16="http://schemas.microsoft.com/office/drawing/2014/main" id="{004F51AF-4F1F-02C1-2699-6926DF22F9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F7F2E5-E74E-05E6-FE79-4A5B160937AE}"/>
              </a:ext>
            </a:extLst>
          </p:cNvPr>
          <p:cNvSpPr>
            <a:spLocks noGrp="1"/>
          </p:cNvSpPr>
          <p:nvPr>
            <p:ph type="sldNum" sz="quarter" idx="12"/>
          </p:nvPr>
        </p:nvSpPr>
        <p:spPr/>
        <p:txBody>
          <a:bodyPr/>
          <a:lstStyle/>
          <a:p>
            <a:fld id="{CE737EC7-409A-4F56-B959-934E8F2A8F20}" type="slidenum">
              <a:rPr lang="en-IN" smtClean="0"/>
              <a:t>‹#›</a:t>
            </a:fld>
            <a:endParaRPr lang="en-IN"/>
          </a:p>
        </p:txBody>
      </p:sp>
    </p:spTree>
    <p:extLst>
      <p:ext uri="{BB962C8B-B14F-4D97-AF65-F5344CB8AC3E}">
        <p14:creationId xmlns:p14="http://schemas.microsoft.com/office/powerpoint/2010/main" val="2406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9A913-2EBF-6770-1AF0-E14FFC023E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5B0A8A-91E7-A31D-5843-BD098A1855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055C10-123E-E372-BC49-4735DEFB65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39DF5D-53AF-4F55-AD37-BD170B7F7E45}"/>
              </a:ext>
            </a:extLst>
          </p:cNvPr>
          <p:cNvSpPr>
            <a:spLocks noGrp="1"/>
          </p:cNvSpPr>
          <p:nvPr>
            <p:ph type="dt" sz="half" idx="10"/>
          </p:nvPr>
        </p:nvSpPr>
        <p:spPr/>
        <p:txBody>
          <a:bodyPr/>
          <a:lstStyle/>
          <a:p>
            <a:fld id="{D09337CA-3DE9-438A-BC39-82A11E9D9EC1}" type="datetimeFigureOut">
              <a:rPr lang="en-IN" smtClean="0"/>
              <a:t>16-08-2026</a:t>
            </a:fld>
            <a:endParaRPr lang="en-IN"/>
          </a:p>
        </p:txBody>
      </p:sp>
      <p:sp>
        <p:nvSpPr>
          <p:cNvPr id="6" name="Footer Placeholder 5">
            <a:extLst>
              <a:ext uri="{FF2B5EF4-FFF2-40B4-BE49-F238E27FC236}">
                <a16:creationId xmlns:a16="http://schemas.microsoft.com/office/drawing/2014/main" id="{962FC8F6-E4F1-A5CF-7CB0-C583291EDF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A6847C-A37C-0085-BBEB-C610D78F3876}"/>
              </a:ext>
            </a:extLst>
          </p:cNvPr>
          <p:cNvSpPr>
            <a:spLocks noGrp="1"/>
          </p:cNvSpPr>
          <p:nvPr>
            <p:ph type="sldNum" sz="quarter" idx="12"/>
          </p:nvPr>
        </p:nvSpPr>
        <p:spPr/>
        <p:txBody>
          <a:bodyPr/>
          <a:lstStyle/>
          <a:p>
            <a:fld id="{CE737EC7-409A-4F56-B959-934E8F2A8F20}" type="slidenum">
              <a:rPr lang="en-IN" smtClean="0"/>
              <a:t>‹#›</a:t>
            </a:fld>
            <a:endParaRPr lang="en-IN"/>
          </a:p>
        </p:txBody>
      </p:sp>
    </p:spTree>
    <p:extLst>
      <p:ext uri="{BB962C8B-B14F-4D97-AF65-F5344CB8AC3E}">
        <p14:creationId xmlns:p14="http://schemas.microsoft.com/office/powerpoint/2010/main" val="422292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ACF53-2B3E-73EE-9C81-FCE6B1AE50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B25A44-A1F4-ED8A-CDCB-F4E637FD0B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857D04-5005-4FED-7AB4-B80919F1EB22}"/>
              </a:ext>
            </a:extLst>
          </p:cNvPr>
          <p:cNvSpPr>
            <a:spLocks noGrp="1"/>
          </p:cNvSpPr>
          <p:nvPr>
            <p:ph type="dt" sz="half" idx="10"/>
          </p:nvPr>
        </p:nvSpPr>
        <p:spPr/>
        <p:txBody>
          <a:bodyPr/>
          <a:lstStyle/>
          <a:p>
            <a:fld id="{D09337CA-3DE9-438A-BC39-82A11E9D9EC1}" type="datetimeFigureOut">
              <a:rPr lang="en-IN" smtClean="0"/>
              <a:t>16-08-2026</a:t>
            </a:fld>
            <a:endParaRPr lang="en-IN"/>
          </a:p>
        </p:txBody>
      </p:sp>
      <p:sp>
        <p:nvSpPr>
          <p:cNvPr id="5" name="Footer Placeholder 4">
            <a:extLst>
              <a:ext uri="{FF2B5EF4-FFF2-40B4-BE49-F238E27FC236}">
                <a16:creationId xmlns:a16="http://schemas.microsoft.com/office/drawing/2014/main" id="{0EC9FCE6-4EDC-5690-A16F-F3812DAE70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F5F064-1696-232E-BFD4-9D8FF27F2F37}"/>
              </a:ext>
            </a:extLst>
          </p:cNvPr>
          <p:cNvSpPr>
            <a:spLocks noGrp="1"/>
          </p:cNvSpPr>
          <p:nvPr>
            <p:ph type="sldNum" sz="quarter" idx="12"/>
          </p:nvPr>
        </p:nvSpPr>
        <p:spPr/>
        <p:txBody>
          <a:bodyPr/>
          <a:lstStyle/>
          <a:p>
            <a:fld id="{CE737EC7-409A-4F56-B959-934E8F2A8F20}" type="slidenum">
              <a:rPr lang="en-IN" smtClean="0"/>
              <a:t>‹#›</a:t>
            </a:fld>
            <a:endParaRPr lang="en-IN"/>
          </a:p>
        </p:txBody>
      </p:sp>
    </p:spTree>
    <p:extLst>
      <p:ext uri="{BB962C8B-B14F-4D97-AF65-F5344CB8AC3E}">
        <p14:creationId xmlns:p14="http://schemas.microsoft.com/office/powerpoint/2010/main" val="3552558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5D34BB-2ADE-89A0-C05B-6BB2F98AE4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49DFFC-5887-2ED6-B4BB-263447CA65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D8D107-0030-7F51-FE73-BFC97EC76901}"/>
              </a:ext>
            </a:extLst>
          </p:cNvPr>
          <p:cNvSpPr>
            <a:spLocks noGrp="1"/>
          </p:cNvSpPr>
          <p:nvPr>
            <p:ph type="dt" sz="half" idx="10"/>
          </p:nvPr>
        </p:nvSpPr>
        <p:spPr/>
        <p:txBody>
          <a:bodyPr/>
          <a:lstStyle/>
          <a:p>
            <a:fld id="{D09337CA-3DE9-438A-BC39-82A11E9D9EC1}" type="datetimeFigureOut">
              <a:rPr lang="en-IN" smtClean="0"/>
              <a:t>16-08-2026</a:t>
            </a:fld>
            <a:endParaRPr lang="en-IN"/>
          </a:p>
        </p:txBody>
      </p:sp>
      <p:sp>
        <p:nvSpPr>
          <p:cNvPr id="5" name="Footer Placeholder 4">
            <a:extLst>
              <a:ext uri="{FF2B5EF4-FFF2-40B4-BE49-F238E27FC236}">
                <a16:creationId xmlns:a16="http://schemas.microsoft.com/office/drawing/2014/main" id="{D7571192-6E51-0BAF-A67C-A82150D72D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948851-F066-AEA9-A494-FC589B4E00F7}"/>
              </a:ext>
            </a:extLst>
          </p:cNvPr>
          <p:cNvSpPr>
            <a:spLocks noGrp="1"/>
          </p:cNvSpPr>
          <p:nvPr>
            <p:ph type="sldNum" sz="quarter" idx="12"/>
          </p:nvPr>
        </p:nvSpPr>
        <p:spPr/>
        <p:txBody>
          <a:bodyPr/>
          <a:lstStyle/>
          <a:p>
            <a:fld id="{CE737EC7-409A-4F56-B959-934E8F2A8F20}" type="slidenum">
              <a:rPr lang="en-IN" smtClean="0"/>
              <a:t>‹#›</a:t>
            </a:fld>
            <a:endParaRPr lang="en-IN"/>
          </a:p>
        </p:txBody>
      </p:sp>
    </p:spTree>
    <p:extLst>
      <p:ext uri="{BB962C8B-B14F-4D97-AF65-F5344CB8AC3E}">
        <p14:creationId xmlns:p14="http://schemas.microsoft.com/office/powerpoint/2010/main" val="223187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536A2F-C08D-718A-D202-9197011232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EA4CDA-D35B-5376-3F61-F824278F69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209913-401F-28F7-8BB6-D85C4EC31A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9337CA-3DE9-438A-BC39-82A11E9D9EC1}" type="datetimeFigureOut">
              <a:rPr lang="en-IN" smtClean="0"/>
              <a:t>16-08-2026</a:t>
            </a:fld>
            <a:endParaRPr lang="en-IN"/>
          </a:p>
        </p:txBody>
      </p:sp>
      <p:sp>
        <p:nvSpPr>
          <p:cNvPr id="5" name="Footer Placeholder 4">
            <a:extLst>
              <a:ext uri="{FF2B5EF4-FFF2-40B4-BE49-F238E27FC236}">
                <a16:creationId xmlns:a16="http://schemas.microsoft.com/office/drawing/2014/main" id="{BF7C1808-B174-19D2-8A1E-8194A968CA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0B305D8-64EE-055C-1F94-ADE57E9C6D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737EC7-409A-4F56-B959-934E8F2A8F20}" type="slidenum">
              <a:rPr lang="en-IN" smtClean="0"/>
              <a:t>‹#›</a:t>
            </a:fld>
            <a:endParaRPr lang="en-IN"/>
          </a:p>
        </p:txBody>
      </p:sp>
    </p:spTree>
    <p:extLst>
      <p:ext uri="{BB962C8B-B14F-4D97-AF65-F5344CB8AC3E}">
        <p14:creationId xmlns:p14="http://schemas.microsoft.com/office/powerpoint/2010/main" val="4019875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17124B-0A6F-9950-36BE-0AD89DA07B8F}"/>
              </a:ext>
            </a:extLst>
          </p:cNvPr>
          <p:cNvSpPr>
            <a:spLocks noGrp="1"/>
          </p:cNvSpPr>
          <p:nvPr>
            <p:ph type="title"/>
          </p:nvPr>
        </p:nvSpPr>
        <p:spPr/>
        <p:txBody>
          <a:bodyPr>
            <a:normAutofit/>
          </a:bodyPr>
          <a:lstStyle/>
          <a:p>
            <a:pPr algn="ctr"/>
            <a:r>
              <a:rPr lang="en-IN" sz="2400" dirty="0">
                <a:solidFill>
                  <a:srgbClr val="002060"/>
                </a:solidFill>
                <a:latin typeface="Times New Roman" panose="02020603050405020304" pitchFamily="18" charset="0"/>
                <a:cs typeface="Times New Roman" panose="02020603050405020304" pitchFamily="18" charset="0"/>
              </a:rPr>
              <a:t>SANJIVANI RURAL EDUCATION SOCIETY’S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Sanjivani College of Engineering, </a:t>
            </a:r>
            <a:r>
              <a:rPr lang="en-IN" sz="2000" dirty="0" err="1">
                <a:latin typeface="Times New Roman" panose="02020603050405020304" pitchFamily="18" charset="0"/>
                <a:cs typeface="Times New Roman" panose="02020603050405020304" pitchFamily="18" charset="0"/>
              </a:rPr>
              <a:t>Kopargaon</a:t>
            </a:r>
            <a:endParaRPr lang="en-IN" sz="20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A901CFE-C250-E9BB-9CAC-64C2D256F076}"/>
              </a:ext>
            </a:extLst>
          </p:cNvPr>
          <p:cNvSpPr>
            <a:spLocks noGrp="1"/>
          </p:cNvSpPr>
          <p:nvPr>
            <p:ph idx="1"/>
          </p:nvPr>
        </p:nvSpPr>
        <p:spPr/>
        <p:txBody>
          <a:bodyPr>
            <a:normAutofit/>
          </a:bodyPr>
          <a:lstStyle/>
          <a:p>
            <a:pPr marL="0" indent="0" algn="ctr">
              <a:buNone/>
            </a:pPr>
            <a:r>
              <a:rPr lang="en-IN" sz="2400" dirty="0">
                <a:latin typeface="Times New Roman" panose="02020603050405020304" pitchFamily="18" charset="0"/>
                <a:cs typeface="Times New Roman" panose="02020603050405020304" pitchFamily="18" charset="0"/>
              </a:rPr>
              <a:t>  Course-Internet Of Things</a:t>
            </a: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Group_6 :</a:t>
            </a:r>
          </a:p>
          <a:p>
            <a:pPr marL="0" indent="0">
              <a:buNone/>
            </a:pPr>
            <a:r>
              <a:rPr lang="en-IN" sz="2400" dirty="0">
                <a:solidFill>
                  <a:srgbClr val="FF0000"/>
                </a:solidFill>
                <a:latin typeface="Times New Roman" panose="02020603050405020304" pitchFamily="18" charset="0"/>
                <a:cs typeface="Times New Roman" panose="02020603050405020304" pitchFamily="18" charset="0"/>
              </a:rPr>
              <a:t>Members-</a:t>
            </a:r>
          </a:p>
          <a:p>
            <a:pPr marL="0" indent="0">
              <a:buNone/>
            </a:pPr>
            <a:r>
              <a:rPr lang="en-IN" sz="2400" dirty="0">
                <a:latin typeface="Times New Roman" panose="02020603050405020304" pitchFamily="18" charset="0"/>
                <a:cs typeface="Times New Roman" panose="02020603050405020304" pitchFamily="18" charset="0"/>
              </a:rPr>
              <a:t>Abhijeet Raghuvanshi     </a:t>
            </a:r>
          </a:p>
          <a:p>
            <a:pPr marL="0" indent="0">
              <a:buNone/>
            </a:pPr>
            <a:r>
              <a:rPr lang="en-IN" sz="2400" dirty="0">
                <a:latin typeface="Times New Roman" panose="02020603050405020304" pitchFamily="18" charset="0"/>
                <a:cs typeface="Times New Roman" panose="02020603050405020304" pitchFamily="18" charset="0"/>
              </a:rPr>
              <a:t>Shubham Khedkar</a:t>
            </a:r>
          </a:p>
          <a:p>
            <a:pPr marL="0" indent="0">
              <a:buNone/>
            </a:pPr>
            <a:r>
              <a:rPr lang="en-IN" sz="2400" dirty="0">
                <a:latin typeface="Times New Roman" panose="02020603050405020304" pitchFamily="18" charset="0"/>
                <a:cs typeface="Times New Roman" panose="02020603050405020304" pitchFamily="18" charset="0"/>
              </a:rPr>
              <a:t>Sahyadri Shinde                                                                   </a:t>
            </a:r>
            <a:r>
              <a:rPr lang="en-IN" sz="2400" dirty="0">
                <a:solidFill>
                  <a:srgbClr val="FF0000"/>
                </a:solidFill>
                <a:latin typeface="Times New Roman" panose="02020603050405020304" pitchFamily="18" charset="0"/>
                <a:cs typeface="Times New Roman" panose="02020603050405020304" pitchFamily="18" charset="0"/>
              </a:rPr>
              <a:t>Course Coordinator-</a:t>
            </a:r>
          </a:p>
          <a:p>
            <a:pPr marL="0" indent="0">
              <a:buNone/>
            </a:pPr>
            <a:r>
              <a:rPr lang="en-IN" sz="2400" dirty="0">
                <a:latin typeface="Times New Roman" panose="02020603050405020304" pitchFamily="18" charset="0"/>
                <a:cs typeface="Times New Roman" panose="02020603050405020304" pitchFamily="18" charset="0"/>
              </a:rPr>
              <a:t>Hiya </a:t>
            </a:r>
            <a:r>
              <a:rPr lang="en-IN" sz="2400" dirty="0" err="1">
                <a:latin typeface="Times New Roman" panose="02020603050405020304" pitchFamily="18" charset="0"/>
                <a:cs typeface="Times New Roman" panose="02020603050405020304" pitchFamily="18" charset="0"/>
              </a:rPr>
              <a:t>Vitankar</a:t>
            </a:r>
            <a:r>
              <a:rPr lang="en-IN" sz="2400" dirty="0">
                <a:latin typeface="Times New Roman" panose="02020603050405020304" pitchFamily="18" charset="0"/>
                <a:cs typeface="Times New Roman" panose="02020603050405020304" pitchFamily="18" charset="0"/>
              </a:rPr>
              <a:t>                                                                       Prof. A. A. </a:t>
            </a:r>
            <a:r>
              <a:rPr lang="en-IN" sz="2400" dirty="0" err="1">
                <a:latin typeface="Times New Roman" panose="02020603050405020304" pitchFamily="18" charset="0"/>
                <a:cs typeface="Times New Roman" panose="02020603050405020304" pitchFamily="18" charset="0"/>
              </a:rPr>
              <a:t>Barbind</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54D1693-633D-9B6C-52B1-9640432D58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325" y="365125"/>
            <a:ext cx="2082050" cy="1789531"/>
          </a:xfrm>
          <a:prstGeom prst="rect">
            <a:avLst/>
          </a:prstGeom>
        </p:spPr>
      </p:pic>
    </p:spTree>
    <p:extLst>
      <p:ext uri="{BB962C8B-B14F-4D97-AF65-F5344CB8AC3E}">
        <p14:creationId xmlns:p14="http://schemas.microsoft.com/office/powerpoint/2010/main" val="2137451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865B2E-9F6A-5E94-D7DA-1BEB5924E929}"/>
              </a:ext>
            </a:extLst>
          </p:cNvPr>
          <p:cNvSpPr>
            <a:spLocks noGrp="1"/>
          </p:cNvSpPr>
          <p:nvPr>
            <p:ph type="title"/>
          </p:nvPr>
        </p:nvSpPr>
        <p:spPr/>
        <p:txBody>
          <a:bodyPr>
            <a:noAutofit/>
          </a:bodyPr>
          <a:lstStyle/>
          <a:p>
            <a:pPr algn="ct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Problem Statement :</a:t>
            </a: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r>
              <a:rPr lang="en-IN" sz="3200" dirty="0">
                <a:solidFill>
                  <a:srgbClr val="FF0000"/>
                </a:solidFill>
                <a:latin typeface="Times New Roman" panose="02020603050405020304" pitchFamily="18" charset="0"/>
                <a:cs typeface="Times New Roman" panose="02020603050405020304" pitchFamily="18" charset="0"/>
              </a:rPr>
              <a:t>IoT-Based Canteen Seat Availability System</a:t>
            </a:r>
            <a:br>
              <a:rPr lang="en-IN" sz="32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In college canteens, students often face difficulty finding vacant seats.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Students have to walk around the canteen to search for available seats.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This leads to time wastage, overcrowding, and confusion.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There is no real-time system to show which seats are occupied or vacant.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Therefore, an IoT-based system is needed to monitor seat availability in real time.</a:t>
            </a:r>
            <a:br>
              <a:rPr lang="en-IN"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7764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DEBAE7-5886-E53E-985B-2F066EC0AB41}"/>
              </a:ext>
            </a:extLst>
          </p:cNvPr>
          <p:cNvSpPr txBox="1"/>
          <p:nvPr/>
        </p:nvSpPr>
        <p:spPr>
          <a:xfrm>
            <a:off x="678426" y="471948"/>
            <a:ext cx="7816646" cy="5139869"/>
          </a:xfrm>
          <a:prstGeom prst="rect">
            <a:avLst/>
          </a:prstGeom>
          <a:noFill/>
        </p:spPr>
        <p:txBody>
          <a:bodyPr wrap="square">
            <a:spAutoFit/>
          </a:bodyPr>
          <a:lstStyle/>
          <a:p>
            <a:pPr>
              <a:buNone/>
            </a:pPr>
            <a:endParaRPr lang="en-IN" sz="3200" dirty="0">
              <a:latin typeface="Times New Roman" panose="02020603050405020304" pitchFamily="18" charset="0"/>
              <a:cs typeface="Times New Roman" panose="02020603050405020304" pitchFamily="18" charset="0"/>
            </a:endParaRPr>
          </a:p>
          <a:p>
            <a:pPr>
              <a:buNone/>
            </a:pPr>
            <a:r>
              <a:rPr lang="en-IN" sz="4000" dirty="0">
                <a:solidFill>
                  <a:schemeClr val="accent6">
                    <a:lumMod val="75000"/>
                  </a:schemeClr>
                </a:solidFill>
                <a:latin typeface="Times New Roman" panose="02020603050405020304" pitchFamily="18" charset="0"/>
                <a:cs typeface="Times New Roman" panose="02020603050405020304" pitchFamily="18" charset="0"/>
              </a:rPr>
              <a:t>Objectives of the System :</a:t>
            </a:r>
          </a:p>
          <a:p>
            <a:pPr>
              <a:buNone/>
            </a:pPr>
            <a:endParaRPr lang="en-IN" sz="4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To detect whether a canteen seat is occupied or vacant.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To provide real-time seat availability information.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To reduce the time spent searching for seats.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To reduce unnecessary crowding and movement inside the canteen.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To display the availability status using an LCD display.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To provide visual/audio indications using LEDs and a buzzer. </a:t>
            </a:r>
          </a:p>
          <a:p>
            <a:pPr marL="342900" lvl="0" indent="-34290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To use ESP32 with Wi-Fi for IoT-based monitoring. </a:t>
            </a:r>
          </a:p>
        </p:txBody>
      </p:sp>
    </p:spTree>
    <p:extLst>
      <p:ext uri="{BB962C8B-B14F-4D97-AF65-F5344CB8AC3E}">
        <p14:creationId xmlns:p14="http://schemas.microsoft.com/office/powerpoint/2010/main" val="2436314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4DC5A58-7ED9-7DD0-69A0-E9D784BA62FB}"/>
              </a:ext>
            </a:extLst>
          </p:cNvPr>
          <p:cNvGraphicFramePr>
            <a:graphicFrameLocks noGrp="1"/>
          </p:cNvGraphicFramePr>
          <p:nvPr>
            <p:extLst>
              <p:ext uri="{D42A27DB-BD31-4B8C-83A1-F6EECF244321}">
                <p14:modId xmlns:p14="http://schemas.microsoft.com/office/powerpoint/2010/main" val="939593520"/>
              </p:ext>
            </p:extLst>
          </p:nvPr>
        </p:nvGraphicFramePr>
        <p:xfrm>
          <a:off x="838200" y="3041174"/>
          <a:ext cx="10515600" cy="1097280"/>
        </p:xfrm>
        <a:graphic>
          <a:graphicData uri="http://schemas.openxmlformats.org/drawingml/2006/table">
            <a:tbl>
              <a:tblPr/>
              <a:tblGrid>
                <a:gridCol w="5257800">
                  <a:extLst>
                    <a:ext uri="{9D8B030D-6E8A-4147-A177-3AD203B41FA5}">
                      <a16:colId xmlns:a16="http://schemas.microsoft.com/office/drawing/2014/main" val="1517806834"/>
                    </a:ext>
                  </a:extLst>
                </a:gridCol>
                <a:gridCol w="5257800">
                  <a:extLst>
                    <a:ext uri="{9D8B030D-6E8A-4147-A177-3AD203B41FA5}">
                      <a16:colId xmlns:a16="http://schemas.microsoft.com/office/drawing/2014/main" val="86254748"/>
                    </a:ext>
                  </a:extLst>
                </a:gridCol>
              </a:tblGrid>
              <a:tr h="0">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2548093465"/>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287476610"/>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19805482"/>
                  </a:ext>
                </a:extLst>
              </a:tr>
            </a:tbl>
          </a:graphicData>
        </a:graphic>
      </p:graphicFrame>
      <p:sp>
        <p:nvSpPr>
          <p:cNvPr id="7" name="Title 6">
            <a:extLst>
              <a:ext uri="{FF2B5EF4-FFF2-40B4-BE49-F238E27FC236}">
                <a16:creationId xmlns:a16="http://schemas.microsoft.com/office/drawing/2014/main" id="{5E652C37-DEB5-105B-FDD4-3033C7AC1EC5}"/>
              </a:ext>
            </a:extLst>
          </p:cNvPr>
          <p:cNvSpPr>
            <a:spLocks noGrp="1"/>
          </p:cNvSpPr>
          <p:nvPr>
            <p:ph type="title"/>
          </p:nvPr>
        </p:nvSpPr>
        <p:spPr/>
        <p:txBody>
          <a:bodyPr/>
          <a:lstStyle/>
          <a:p>
            <a:r>
              <a:rPr lang="en-IN" dirty="0">
                <a:solidFill>
                  <a:srgbClr val="7030A0"/>
                </a:solidFill>
                <a:latin typeface="Times New Roman" panose="02020603050405020304" pitchFamily="18" charset="0"/>
                <a:cs typeface="Times New Roman" panose="02020603050405020304" pitchFamily="18" charset="0"/>
              </a:rPr>
              <a:t>Sensors and Their Uses :</a:t>
            </a:r>
          </a:p>
        </p:txBody>
      </p:sp>
      <p:sp>
        <p:nvSpPr>
          <p:cNvPr id="8" name="Content Placeholder 7">
            <a:extLst>
              <a:ext uri="{FF2B5EF4-FFF2-40B4-BE49-F238E27FC236}">
                <a16:creationId xmlns:a16="http://schemas.microsoft.com/office/drawing/2014/main" id="{811529C8-5A6D-1309-D060-886133776E69}"/>
              </a:ext>
            </a:extLst>
          </p:cNvPr>
          <p:cNvSpPr>
            <a:spLocks noGrp="1"/>
          </p:cNvSpPr>
          <p:nvPr>
            <p:ph sz="half" idx="1"/>
          </p:nvPr>
        </p:nvSpPr>
        <p:spPr>
          <a:xfrm>
            <a:off x="838200" y="1825625"/>
            <a:ext cx="3468329" cy="3444465"/>
          </a:xfrm>
        </p:spPr>
        <p:txBody>
          <a:bodyPr>
            <a:normAutofit lnSpcReduction="10000"/>
          </a:bodyPr>
          <a:lstStyle/>
          <a:p>
            <a:pPr marL="0" indent="0">
              <a:buNone/>
            </a:pPr>
            <a:r>
              <a:rPr lang="en-IN" dirty="0">
                <a:latin typeface="Times New Roman" panose="02020603050405020304" pitchFamily="18" charset="0"/>
                <a:cs typeface="Times New Roman" panose="02020603050405020304" pitchFamily="18" charset="0"/>
              </a:rPr>
              <a:t>Sensor</a:t>
            </a:r>
          </a:p>
          <a:p>
            <a:pPr marL="0" indent="0">
              <a:buNone/>
            </a:pPr>
            <a:endParaRPr lang="en-IN"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IR Sensor-</a:t>
            </a:r>
          </a:p>
          <a:p>
            <a:endParaRPr lang="en-IN" sz="2600" dirty="0">
              <a:latin typeface="Times New Roman" panose="02020603050405020304" pitchFamily="18" charset="0"/>
              <a:cs typeface="Times New Roman" panose="02020603050405020304" pitchFamily="18" charset="0"/>
            </a:endParaRPr>
          </a:p>
          <a:p>
            <a:endParaRPr lang="en-IN" sz="2600" dirty="0">
              <a:latin typeface="Times New Roman" panose="02020603050405020304" pitchFamily="18" charset="0"/>
              <a:cs typeface="Times New Roman" panose="02020603050405020304" pitchFamily="18" charset="0"/>
            </a:endParaRPr>
          </a:p>
          <a:p>
            <a:endParaRPr lang="en-IN"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Ultrasonic Sensor-</a:t>
            </a:r>
          </a:p>
        </p:txBody>
      </p:sp>
      <p:sp>
        <p:nvSpPr>
          <p:cNvPr id="9" name="Content Placeholder 8">
            <a:extLst>
              <a:ext uri="{FF2B5EF4-FFF2-40B4-BE49-F238E27FC236}">
                <a16:creationId xmlns:a16="http://schemas.microsoft.com/office/drawing/2014/main" id="{2D76EBBB-CA56-1862-23A3-5C874BE01EA0}"/>
              </a:ext>
            </a:extLst>
          </p:cNvPr>
          <p:cNvSpPr>
            <a:spLocks noGrp="1"/>
          </p:cNvSpPr>
          <p:nvPr>
            <p:ph sz="half" idx="2"/>
          </p:nvPr>
        </p:nvSpPr>
        <p:spPr>
          <a:xfrm>
            <a:off x="4857135" y="1825625"/>
            <a:ext cx="7079226" cy="3444465"/>
          </a:xfrm>
        </p:spPr>
        <p:txBody>
          <a:bodyPr>
            <a:normAutofit lnSpcReduction="10000"/>
          </a:bodyPr>
          <a:lstStyle/>
          <a:p>
            <a:pPr marL="0" indent="0">
              <a:buNone/>
            </a:pPr>
            <a:r>
              <a:rPr lang="en-IN" sz="2400" dirty="0">
                <a:latin typeface="Times New Roman" panose="02020603050405020304" pitchFamily="18" charset="0"/>
                <a:cs typeface="Times New Roman" panose="02020603050405020304" pitchFamily="18" charset="0"/>
              </a:rPr>
              <a:t>Use</a:t>
            </a:r>
          </a:p>
          <a:p>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Detects whether a seat is occupied or vacant by detecting the presence of a person.</a:t>
            </a: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Detects the presence/distance of a person or object near the seating area and can be used as an additional occupancy detection sensor.</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7376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4C790-D6B8-BA9B-5714-3FA99075BCB8}"/>
              </a:ext>
            </a:extLst>
          </p:cNvPr>
          <p:cNvSpPr>
            <a:spLocks noGrp="1"/>
          </p:cNvSpPr>
          <p:nvPr>
            <p:ph type="title" idx="4294967295"/>
          </p:nvPr>
        </p:nvSpPr>
        <p:spPr>
          <a:xfrm>
            <a:off x="0" y="-29511"/>
            <a:ext cx="10515600" cy="1720199"/>
          </a:xfrm>
        </p:spPr>
        <p:txBody>
          <a:bodyPr/>
          <a:lstStyle/>
          <a:p>
            <a:pPr algn="ctr"/>
            <a:br>
              <a:rPr lang="en-IN" dirty="0"/>
            </a:br>
            <a:r>
              <a:rPr lang="en-IN" dirty="0">
                <a:latin typeface="Times New Roman" panose="02020603050405020304" pitchFamily="18" charset="0"/>
                <a:cs typeface="Times New Roman" panose="02020603050405020304" pitchFamily="18" charset="0"/>
              </a:rPr>
              <a:t>Actuators and Their Uses :</a:t>
            </a:r>
          </a:p>
        </p:txBody>
      </p:sp>
      <p:graphicFrame>
        <p:nvGraphicFramePr>
          <p:cNvPr id="7" name="Table 6">
            <a:extLst>
              <a:ext uri="{FF2B5EF4-FFF2-40B4-BE49-F238E27FC236}">
                <a16:creationId xmlns:a16="http://schemas.microsoft.com/office/drawing/2014/main" id="{A5784507-D44B-C364-9D18-8459CE81B578}"/>
              </a:ext>
            </a:extLst>
          </p:cNvPr>
          <p:cNvGraphicFramePr>
            <a:graphicFrameLocks noGrp="1"/>
          </p:cNvGraphicFramePr>
          <p:nvPr>
            <p:extLst>
              <p:ext uri="{D42A27DB-BD31-4B8C-83A1-F6EECF244321}">
                <p14:modId xmlns:p14="http://schemas.microsoft.com/office/powerpoint/2010/main" val="4256579628"/>
              </p:ext>
            </p:extLst>
          </p:nvPr>
        </p:nvGraphicFramePr>
        <p:xfrm>
          <a:off x="1002889" y="2271250"/>
          <a:ext cx="10156724" cy="3755924"/>
        </p:xfrm>
        <a:graphic>
          <a:graphicData uri="http://schemas.openxmlformats.org/drawingml/2006/table">
            <a:tbl>
              <a:tblPr firstRow="1" bandRow="1">
                <a:tableStyleId>{5C22544A-7EE6-4342-B048-85BDC9FD1C3A}</a:tableStyleId>
              </a:tblPr>
              <a:tblGrid>
                <a:gridCol w="5078362">
                  <a:extLst>
                    <a:ext uri="{9D8B030D-6E8A-4147-A177-3AD203B41FA5}">
                      <a16:colId xmlns:a16="http://schemas.microsoft.com/office/drawing/2014/main" val="3586014155"/>
                    </a:ext>
                  </a:extLst>
                </a:gridCol>
                <a:gridCol w="5078362">
                  <a:extLst>
                    <a:ext uri="{9D8B030D-6E8A-4147-A177-3AD203B41FA5}">
                      <a16:colId xmlns:a16="http://schemas.microsoft.com/office/drawing/2014/main" val="2422972841"/>
                    </a:ext>
                  </a:extLst>
                </a:gridCol>
              </a:tblGrid>
              <a:tr h="938981">
                <a:tc>
                  <a:txBody>
                    <a:bodyPr/>
                    <a:lstStyle/>
                    <a:p>
                      <a:pPr>
                        <a:buNone/>
                      </a:pPr>
                      <a:r>
                        <a:rPr lang="en-IN" sz="2000" dirty="0">
                          <a:latin typeface="Times New Roman" panose="02020603050405020304" pitchFamily="18" charset="0"/>
                          <a:cs typeface="Times New Roman" panose="02020603050405020304" pitchFamily="18" charset="0"/>
                        </a:rPr>
                        <a:t>Component</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Use</a:t>
                      </a:r>
                    </a:p>
                  </a:txBody>
                  <a:tcPr anchor="ctr"/>
                </a:tc>
                <a:extLst>
                  <a:ext uri="{0D108BD9-81ED-4DB2-BD59-A6C34878D82A}">
                    <a16:rowId xmlns:a16="http://schemas.microsoft.com/office/drawing/2014/main" val="2692427496"/>
                  </a:ext>
                </a:extLst>
              </a:tr>
              <a:tr h="938981">
                <a:tc>
                  <a:txBody>
                    <a:bodyPr/>
                    <a:lstStyle/>
                    <a:p>
                      <a:pPr>
                        <a:buNone/>
                      </a:pPr>
                      <a:r>
                        <a:rPr lang="en-IN" sz="2000" b="1">
                          <a:latin typeface="Times New Roman" panose="02020603050405020304" pitchFamily="18" charset="0"/>
                          <a:cs typeface="Times New Roman" panose="02020603050405020304" pitchFamily="18" charset="0"/>
                        </a:rPr>
                        <a:t>LED Indicators</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latin typeface="Times New Roman" panose="02020603050405020304" pitchFamily="18" charset="0"/>
                          <a:cs typeface="Times New Roman" panose="02020603050405020304" pitchFamily="18" charset="0"/>
                        </a:rPr>
                        <a:t>Indicate whether a seat is available or occupied.</a:t>
                      </a:r>
                    </a:p>
                  </a:txBody>
                  <a:tcPr anchor="ctr"/>
                </a:tc>
                <a:extLst>
                  <a:ext uri="{0D108BD9-81ED-4DB2-BD59-A6C34878D82A}">
                    <a16:rowId xmlns:a16="http://schemas.microsoft.com/office/drawing/2014/main" val="346387590"/>
                  </a:ext>
                </a:extLst>
              </a:tr>
              <a:tr h="938981">
                <a:tc>
                  <a:txBody>
                    <a:bodyPr/>
                    <a:lstStyle/>
                    <a:p>
                      <a:pPr>
                        <a:buNone/>
                      </a:pPr>
                      <a:r>
                        <a:rPr lang="en-IN" sz="2000" b="1">
                          <a:latin typeface="Times New Roman" panose="02020603050405020304" pitchFamily="18" charset="0"/>
                          <a:cs typeface="Times New Roman" panose="02020603050405020304" pitchFamily="18" charset="0"/>
                        </a:rPr>
                        <a:t>Active Buzzer</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latin typeface="Times New Roman" panose="02020603050405020304" pitchFamily="18" charset="0"/>
                          <a:cs typeface="Times New Roman" panose="02020603050405020304" pitchFamily="18" charset="0"/>
                        </a:rPr>
                        <a:t>Gives an audio indication/alert when required.</a:t>
                      </a:r>
                    </a:p>
                  </a:txBody>
                  <a:tcPr anchor="ctr"/>
                </a:tc>
                <a:extLst>
                  <a:ext uri="{0D108BD9-81ED-4DB2-BD59-A6C34878D82A}">
                    <a16:rowId xmlns:a16="http://schemas.microsoft.com/office/drawing/2014/main" val="3473206602"/>
                  </a:ext>
                </a:extLst>
              </a:tr>
              <a:tr h="938981">
                <a:tc>
                  <a:txBody>
                    <a:bodyPr/>
                    <a:lstStyle/>
                    <a:p>
                      <a:pPr>
                        <a:buNone/>
                      </a:pPr>
                      <a:r>
                        <a:rPr lang="en-IN" sz="2000" b="1">
                          <a:latin typeface="Times New Roman" panose="02020603050405020304" pitchFamily="18" charset="0"/>
                          <a:cs typeface="Times New Roman" panose="02020603050405020304" pitchFamily="18" charset="0"/>
                        </a:rPr>
                        <a:t>16×2 I2C LCD Display</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Displays the number/status of available and occupied seats.</a:t>
                      </a:r>
                    </a:p>
                  </a:txBody>
                  <a:tcPr anchor="ctr"/>
                </a:tc>
                <a:extLst>
                  <a:ext uri="{0D108BD9-81ED-4DB2-BD59-A6C34878D82A}">
                    <a16:rowId xmlns:a16="http://schemas.microsoft.com/office/drawing/2014/main" val="3998625261"/>
                  </a:ext>
                </a:extLst>
              </a:tr>
            </a:tbl>
          </a:graphicData>
        </a:graphic>
      </p:graphicFrame>
    </p:spTree>
    <p:extLst>
      <p:ext uri="{BB962C8B-B14F-4D97-AF65-F5344CB8AC3E}">
        <p14:creationId xmlns:p14="http://schemas.microsoft.com/office/powerpoint/2010/main" val="3551715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2DC9EC-949F-0142-FBEB-EA44DE18B1D4}"/>
              </a:ext>
            </a:extLst>
          </p:cNvPr>
          <p:cNvSpPr txBox="1"/>
          <p:nvPr/>
        </p:nvSpPr>
        <p:spPr>
          <a:xfrm>
            <a:off x="983226" y="688258"/>
            <a:ext cx="8160774" cy="4893647"/>
          </a:xfrm>
          <a:prstGeom prst="rect">
            <a:avLst/>
          </a:prstGeom>
          <a:noFill/>
        </p:spPr>
        <p:txBody>
          <a:bodyPr wrap="square">
            <a:spAutoFit/>
          </a:bodyPr>
          <a:lstStyle/>
          <a:p>
            <a:pPr>
              <a:buNone/>
            </a:pPr>
            <a:r>
              <a:rPr lang="en-IN" sz="3200" dirty="0">
                <a:solidFill>
                  <a:srgbClr val="FF0000"/>
                </a:solidFill>
                <a:latin typeface="Times New Roman" panose="02020603050405020304" pitchFamily="18" charset="0"/>
                <a:cs typeface="Times New Roman" panose="02020603050405020304" pitchFamily="18" charset="0"/>
              </a:rPr>
              <a:t>Example Indication</a:t>
            </a:r>
          </a:p>
          <a:p>
            <a:pPr>
              <a:buNone/>
            </a:pPr>
            <a:endParaRPr lang="en-IN" sz="2800" dirty="0">
              <a:latin typeface="Times New Roman" panose="02020603050405020304" pitchFamily="18" charset="0"/>
              <a:cs typeface="Times New Roman" panose="02020603050405020304" pitchFamily="18" charset="0"/>
            </a:endParaRPr>
          </a:p>
          <a:p>
            <a:pPr marL="342900" lvl="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t>
            </a:r>
            <a:r>
              <a:rPr lang="en-IN" sz="2800" dirty="0">
                <a:solidFill>
                  <a:srgbClr val="00B050"/>
                </a:solidFill>
                <a:latin typeface="Times New Roman" panose="02020603050405020304" pitchFamily="18" charset="0"/>
                <a:cs typeface="Times New Roman" panose="02020603050405020304" pitchFamily="18" charset="0"/>
              </a:rPr>
              <a:t> Green </a:t>
            </a:r>
            <a:r>
              <a:rPr lang="en-IN" sz="2800" dirty="0">
                <a:latin typeface="Times New Roman" panose="02020603050405020304" pitchFamily="18" charset="0"/>
                <a:cs typeface="Times New Roman" panose="02020603050405020304" pitchFamily="18" charset="0"/>
              </a:rPr>
              <a:t>LED → Seat Available </a:t>
            </a:r>
          </a:p>
          <a:p>
            <a:pPr marL="342900" lvl="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 </a:t>
            </a:r>
            <a:r>
              <a:rPr lang="en-IN" sz="2800" dirty="0">
                <a:solidFill>
                  <a:srgbClr val="FF0000"/>
                </a:solidFill>
                <a:latin typeface="Times New Roman" panose="02020603050405020304" pitchFamily="18" charset="0"/>
                <a:cs typeface="Times New Roman" panose="02020603050405020304" pitchFamily="18" charset="0"/>
              </a:rPr>
              <a:t>Red</a:t>
            </a:r>
            <a:r>
              <a:rPr lang="en-IN" sz="2800" dirty="0">
                <a:latin typeface="Times New Roman" panose="02020603050405020304" pitchFamily="18" charset="0"/>
                <a:cs typeface="Times New Roman" panose="02020603050405020304" pitchFamily="18" charset="0"/>
              </a:rPr>
              <a:t> LED → Seat Occupied </a:t>
            </a:r>
          </a:p>
          <a:p>
            <a:pPr marL="342900" lvl="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 Buzzer → Alert/Status indication </a:t>
            </a:r>
          </a:p>
          <a:p>
            <a:pPr marL="342900" lvl="0" indent="-3429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 LCD → “Available Seats: 5” </a:t>
            </a:r>
          </a:p>
          <a:p>
            <a:pPr marL="342900" lvl="0" indent="-342900">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a:p>
            <a:pPr lvl="0"/>
            <a:endParaRPr lang="en-IN" sz="2800" dirty="0">
              <a:latin typeface="Times New Roman" panose="02020603050405020304" pitchFamily="18" charset="0"/>
              <a:cs typeface="Times New Roman" panose="02020603050405020304" pitchFamily="18" charset="0"/>
            </a:endParaRPr>
          </a:p>
          <a:p>
            <a:pPr>
              <a:buNone/>
            </a:pPr>
            <a:r>
              <a:rPr lang="en-IN" sz="2800" dirty="0">
                <a:latin typeface="Times New Roman" panose="02020603050405020304" pitchFamily="18" charset="0"/>
                <a:cs typeface="Times New Roman" panose="02020603050405020304" pitchFamily="18" charset="0"/>
              </a:rPr>
              <a:t>Controller: ESP32</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The ESP32 receives sensor data, processes it and controls the output devices.</a:t>
            </a:r>
          </a:p>
        </p:txBody>
      </p:sp>
    </p:spTree>
    <p:extLst>
      <p:ext uri="{BB962C8B-B14F-4D97-AF65-F5344CB8AC3E}">
        <p14:creationId xmlns:p14="http://schemas.microsoft.com/office/powerpoint/2010/main" val="1652072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ADD2F-558B-72D0-EEDF-69EA91CF986C}"/>
              </a:ext>
            </a:extLst>
          </p:cNvPr>
          <p:cNvSpPr>
            <a:spLocks noGrp="1"/>
          </p:cNvSpPr>
          <p:nvPr>
            <p:ph type="title"/>
          </p:nvPr>
        </p:nvSpPr>
        <p:spPr/>
        <p:txBody>
          <a:bodyPr>
            <a:normAutofit/>
          </a:bodyPr>
          <a:lstStyle/>
          <a:p>
            <a:r>
              <a:rPr lang="en-IN" dirty="0">
                <a:solidFill>
                  <a:srgbClr val="0070C0"/>
                </a:solidFill>
                <a:latin typeface="Times New Roman" panose="02020603050405020304" pitchFamily="18" charset="0"/>
                <a:cs typeface="Times New Roman" panose="02020603050405020304" pitchFamily="18" charset="0"/>
              </a:rPr>
              <a:t>Working of the Project :</a:t>
            </a:r>
          </a:p>
        </p:txBody>
      </p:sp>
      <p:sp>
        <p:nvSpPr>
          <p:cNvPr id="6" name="Content Placeholder 5">
            <a:extLst>
              <a:ext uri="{FF2B5EF4-FFF2-40B4-BE49-F238E27FC236}">
                <a16:creationId xmlns:a16="http://schemas.microsoft.com/office/drawing/2014/main" id="{88E52191-F6CB-ACE2-8674-89EDB9F46877}"/>
              </a:ext>
            </a:extLst>
          </p:cNvPr>
          <p:cNvSpPr>
            <a:spLocks noGrp="1"/>
          </p:cNvSpPr>
          <p:nvPr>
            <p:ph idx="1"/>
          </p:nvPr>
        </p:nvSpPr>
        <p:spPr/>
        <p:txBody>
          <a:bodyPr>
            <a:normAutofit lnSpcReduction="10000"/>
          </a:bodyPr>
          <a:lstStyle/>
          <a:p>
            <a:r>
              <a:rPr lang="en-IN" b="1" dirty="0">
                <a:latin typeface="Times New Roman" panose="02020603050405020304" pitchFamily="18" charset="0"/>
                <a:cs typeface="Times New Roman" panose="02020603050405020304" pitchFamily="18" charset="0"/>
              </a:rPr>
              <a:t>Step 1:</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IR sensors are placed at the seating positions to detect whether each seat is occupied.</a:t>
            </a:r>
          </a:p>
          <a:p>
            <a:r>
              <a:rPr lang="en-IN" b="1" dirty="0">
                <a:latin typeface="Times New Roman" panose="02020603050405020304" pitchFamily="18" charset="0"/>
                <a:cs typeface="Times New Roman" panose="02020603050405020304" pitchFamily="18" charset="0"/>
              </a:rPr>
              <a:t>Step 2:</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sensors continuously send the seat status to the </a:t>
            </a:r>
            <a:r>
              <a:rPr lang="en-IN" b="1" dirty="0">
                <a:latin typeface="Times New Roman" panose="02020603050405020304" pitchFamily="18" charset="0"/>
                <a:cs typeface="Times New Roman" panose="02020603050405020304" pitchFamily="18" charset="0"/>
              </a:rPr>
              <a:t>ESP32</a:t>
            </a:r>
            <a:r>
              <a:rPr lang="en-IN" dirty="0">
                <a:latin typeface="Times New Roman" panose="02020603050405020304" pitchFamily="18" charset="0"/>
                <a:cs typeface="Times New Roman" panose="02020603050405020304" pitchFamily="18" charset="0"/>
              </a:rPr>
              <a:t>.</a:t>
            </a:r>
          </a:p>
          <a:p>
            <a:r>
              <a:rPr lang="en-IN" b="1" dirty="0">
                <a:latin typeface="Times New Roman" panose="02020603050405020304" pitchFamily="18" charset="0"/>
                <a:cs typeface="Times New Roman" panose="02020603050405020304" pitchFamily="18" charset="0"/>
              </a:rPr>
              <a:t>Step 3:</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The ESP32 processes the sensor data and determines:</a:t>
            </a:r>
          </a:p>
          <a:p>
            <a:pPr lvl="0"/>
            <a:r>
              <a:rPr lang="en-IN" dirty="0">
                <a:latin typeface="Times New Roman" panose="02020603050405020304" pitchFamily="18" charset="0"/>
                <a:cs typeface="Times New Roman" panose="02020603050405020304" pitchFamily="18" charset="0"/>
              </a:rPr>
              <a:t>Occupied seats </a:t>
            </a:r>
          </a:p>
          <a:p>
            <a:pPr lvl="0"/>
            <a:r>
              <a:rPr lang="en-IN" dirty="0">
                <a:latin typeface="Times New Roman" panose="02020603050405020304" pitchFamily="18" charset="0"/>
                <a:cs typeface="Times New Roman" panose="02020603050405020304" pitchFamily="18" charset="0"/>
              </a:rPr>
              <a:t>Vacant seats </a:t>
            </a:r>
          </a:p>
          <a:p>
            <a:pPr lvl="0"/>
            <a:r>
              <a:rPr lang="en-IN" dirty="0">
                <a:latin typeface="Times New Roman" panose="02020603050405020304" pitchFamily="18" charset="0"/>
                <a:cs typeface="Times New Roman" panose="02020603050405020304" pitchFamily="18" charset="0"/>
              </a:rPr>
              <a:t>Total available seats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8001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83F423-46D9-C74D-61DF-35C9F75C5BF5}"/>
              </a:ext>
            </a:extLst>
          </p:cNvPr>
          <p:cNvSpPr txBox="1"/>
          <p:nvPr/>
        </p:nvSpPr>
        <p:spPr>
          <a:xfrm>
            <a:off x="678426" y="501445"/>
            <a:ext cx="8465574" cy="5262979"/>
          </a:xfrm>
          <a:prstGeom prst="rect">
            <a:avLst/>
          </a:prstGeom>
          <a:noFill/>
        </p:spPr>
        <p:txBody>
          <a:bodyPr wrap="square">
            <a:spAutoFit/>
          </a:bodyPr>
          <a:lstStyle/>
          <a:p>
            <a:pPr marL="457200" indent="-457200">
              <a:buFont typeface="Arial" panose="020B0604020202020204" pitchFamily="34" charset="0"/>
              <a:buChar char="•"/>
            </a:pPr>
            <a:endParaRPr lang="en-IN" sz="28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Step 4:</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The </a:t>
            </a:r>
            <a:r>
              <a:rPr lang="en-IN" sz="2800" b="1" dirty="0">
                <a:latin typeface="Times New Roman" panose="02020603050405020304" pitchFamily="18" charset="0"/>
                <a:cs typeface="Times New Roman" panose="02020603050405020304" pitchFamily="18" charset="0"/>
              </a:rPr>
              <a:t>LCD display</a:t>
            </a:r>
            <a:r>
              <a:rPr lang="en-IN" sz="2800" dirty="0">
                <a:latin typeface="Times New Roman" panose="02020603050405020304" pitchFamily="18" charset="0"/>
                <a:cs typeface="Times New Roman" panose="02020603050405020304" pitchFamily="18" charset="0"/>
              </a:rPr>
              <a:t> shows the real-time seat availability.</a:t>
            </a:r>
          </a:p>
          <a:p>
            <a:pPr marL="457200" indent="-4572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Step 5:</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LED indicators show the status of individual seats:</a:t>
            </a:r>
          </a:p>
          <a:p>
            <a:pPr lvl="0"/>
            <a:r>
              <a:rPr lang="en-IN" sz="2800" dirty="0">
                <a:latin typeface="Times New Roman" panose="02020603050405020304" pitchFamily="18" charset="0"/>
                <a:cs typeface="Times New Roman" panose="02020603050405020304" pitchFamily="18" charset="0"/>
              </a:rPr>
              <a:t>     Green → Available </a:t>
            </a:r>
          </a:p>
          <a:p>
            <a:pPr lvl="0"/>
            <a:r>
              <a:rPr lang="en-IN" sz="2800" dirty="0">
                <a:latin typeface="Times New Roman" panose="02020603050405020304" pitchFamily="18" charset="0"/>
                <a:cs typeface="Times New Roman" panose="02020603050405020304" pitchFamily="18" charset="0"/>
              </a:rPr>
              <a:t>     Red → Occupied </a:t>
            </a:r>
          </a:p>
          <a:p>
            <a:pPr marL="457200" indent="-4572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Step 6:</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The ESP32 can use </a:t>
            </a:r>
            <a:r>
              <a:rPr lang="en-IN" sz="2800" b="1" dirty="0">
                <a:latin typeface="Times New Roman" panose="02020603050405020304" pitchFamily="18" charset="0"/>
                <a:cs typeface="Times New Roman" panose="02020603050405020304" pitchFamily="18" charset="0"/>
              </a:rPr>
              <a:t>Wi-Fi connectivity</a:t>
            </a:r>
            <a:r>
              <a:rPr lang="en-IN" sz="2800" dirty="0">
                <a:latin typeface="Times New Roman" panose="02020603050405020304" pitchFamily="18" charset="0"/>
                <a:cs typeface="Times New Roman" panose="02020603050405020304" pitchFamily="18" charset="0"/>
              </a:rPr>
              <a:t> to send the seat-status information to an IoT-based monitoring system in future.</a:t>
            </a:r>
          </a:p>
        </p:txBody>
      </p:sp>
    </p:spTree>
    <p:extLst>
      <p:ext uri="{BB962C8B-B14F-4D97-AF65-F5344CB8AC3E}">
        <p14:creationId xmlns:p14="http://schemas.microsoft.com/office/powerpoint/2010/main" val="734968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3F3EC6-EBC8-2FF1-2ACA-99E22D20620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Conclusion :</a:t>
            </a:r>
          </a:p>
        </p:txBody>
      </p:sp>
      <p:sp>
        <p:nvSpPr>
          <p:cNvPr id="4" name="Content Placeholder 3">
            <a:extLst>
              <a:ext uri="{FF2B5EF4-FFF2-40B4-BE49-F238E27FC236}">
                <a16:creationId xmlns:a16="http://schemas.microsoft.com/office/drawing/2014/main" id="{92DBDC5B-AC43-B8FC-159F-09A2145DA0E4}"/>
              </a:ext>
            </a:extLst>
          </p:cNvPr>
          <p:cNvSpPr>
            <a:spLocks noGrp="1"/>
          </p:cNvSpPr>
          <p:nvPr>
            <p:ph idx="1"/>
          </p:nvPr>
        </p:nvSpPr>
        <p:spPr/>
        <p:txBody>
          <a:bodyPr>
            <a:normAutofit fontScale="92500" lnSpcReduction="10000"/>
          </a:bodyPr>
          <a:lstStyle/>
          <a:p>
            <a:pPr marL="0" indent="0">
              <a:buNone/>
            </a:pPr>
            <a:endParaRPr lang="en-IN" b="1"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The proposed system provides </a:t>
            </a:r>
            <a:r>
              <a:rPr lang="en-IN" b="1" dirty="0">
                <a:latin typeface="Times New Roman" panose="02020603050405020304" pitchFamily="18" charset="0"/>
                <a:cs typeface="Times New Roman" panose="02020603050405020304" pitchFamily="18" charset="0"/>
              </a:rPr>
              <a:t>real-time monitoring of canteen seat availability</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It helps students </a:t>
            </a:r>
            <a:r>
              <a:rPr lang="en-IN" b="1" dirty="0">
                <a:latin typeface="Times New Roman" panose="02020603050405020304" pitchFamily="18" charset="0"/>
                <a:cs typeface="Times New Roman" panose="02020603050405020304" pitchFamily="18" charset="0"/>
              </a:rPr>
              <a:t>find vacant seats quickly</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It reduces </a:t>
            </a:r>
            <a:r>
              <a:rPr lang="en-IN" b="1" dirty="0">
                <a:latin typeface="Times New Roman" panose="02020603050405020304" pitchFamily="18" charset="0"/>
                <a:cs typeface="Times New Roman" panose="02020603050405020304" pitchFamily="18" charset="0"/>
              </a:rPr>
              <a:t>unnecessary movement, waiting time and crowding</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IR and ultrasonic sensors help in detecting seat occupancy. </a:t>
            </a:r>
          </a:p>
          <a:p>
            <a:pPr lvl="0"/>
            <a:r>
              <a:rPr lang="en-IN" dirty="0">
                <a:latin typeface="Times New Roman" panose="02020603050405020304" pitchFamily="18" charset="0"/>
                <a:cs typeface="Times New Roman" panose="02020603050405020304" pitchFamily="18" charset="0"/>
              </a:rPr>
              <a:t>ESP32 processes the sensor data and controls the output devices. </a:t>
            </a:r>
          </a:p>
          <a:p>
            <a:pPr lvl="0"/>
            <a:r>
              <a:rPr lang="en-IN" dirty="0">
                <a:latin typeface="Times New Roman" panose="02020603050405020304" pitchFamily="18" charset="0"/>
                <a:cs typeface="Times New Roman" panose="02020603050405020304" pitchFamily="18" charset="0"/>
              </a:rPr>
              <a:t>LCD, LEDs and buzzer provide </a:t>
            </a:r>
            <a:r>
              <a:rPr lang="en-IN" b="1" dirty="0">
                <a:latin typeface="Times New Roman" panose="02020603050405020304" pitchFamily="18" charset="0"/>
                <a:cs typeface="Times New Roman" panose="02020603050405020304" pitchFamily="18" charset="0"/>
              </a:rPr>
              <a:t>easy-to-understand status information</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The system can be further enhanced with a </a:t>
            </a:r>
            <a:r>
              <a:rPr lang="en-IN" b="1" dirty="0">
                <a:latin typeface="Times New Roman" panose="02020603050405020304" pitchFamily="18" charset="0"/>
                <a:cs typeface="Times New Roman" panose="02020603050405020304" pitchFamily="18" charset="0"/>
              </a:rPr>
              <a:t>mobile/web application and cloud-based monitoring</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8556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550</Words>
  <Application>Microsoft Office PowerPoint</Application>
  <PresentationFormat>Widescreen</PresentationFormat>
  <Paragraphs>75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Times New Roman</vt:lpstr>
      <vt:lpstr>Wingdings</vt:lpstr>
      <vt:lpstr>Office Theme</vt:lpstr>
      <vt:lpstr>SANJIVANI RURAL EDUCATION SOCIETY’S Sanjivani College of Engineering, Kopargaon</vt:lpstr>
      <vt:lpstr>                Problem Statement :  IoT-Based Canteen Seat Availability System    In college canteens, students often face difficulty finding vacant seats.  Students have to walk around the canteen to search for available seats.  This leads to time wastage, overcrowding, and confusion.  There is no real-time system to show which seats are occupied or vacant.  Therefore, an IoT-based system is needed to monitor seat availability in real time. </vt:lpstr>
      <vt:lpstr>PowerPoint Presentation</vt:lpstr>
      <vt:lpstr>Sensors and Their Uses :</vt:lpstr>
      <vt:lpstr> Actuators and Their Uses :</vt:lpstr>
      <vt:lpstr>PowerPoint Presentation</vt:lpstr>
      <vt:lpstr>Working of the Project :</vt:lpstr>
      <vt:lpstr>PowerPoint Presentation</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shindesahyadri5@gmail.com</dc:creator>
  <cp:lastModifiedBy>shindesahyadri5@gmail.com</cp:lastModifiedBy>
  <cp:revision>1</cp:revision>
  <dcterms:created xsi:type="dcterms:W3CDTF">2026-08-16T05:49:57Z</dcterms:created>
  <dcterms:modified xsi:type="dcterms:W3CDTF">2026-08-16T06:13:10Z</dcterms:modified>
</cp:coreProperties>
</file>